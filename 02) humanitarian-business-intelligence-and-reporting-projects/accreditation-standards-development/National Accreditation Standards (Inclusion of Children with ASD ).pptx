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1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4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1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7.png"/><Relationship Id="rId7" Type="http://schemas.openxmlformats.org/officeDocument/2006/relationships/image" Target="../media/image5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1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EB9F277-70EB-D899-B4ED-B7DE339B9798}"/>
              </a:ext>
            </a:extLst>
          </p:cNvPr>
          <p:cNvSpPr/>
          <p:nvPr/>
        </p:nvSpPr>
        <p:spPr>
          <a:xfrm>
            <a:off x="341376" y="566738"/>
            <a:ext cx="11509248" cy="54863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3766244"/>
            <a:ext cx="3498800" cy="17886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525" y="3766244"/>
            <a:ext cx="3498800" cy="17886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925" y="3766244"/>
            <a:ext cx="3498949" cy="1788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2243" y="897998"/>
            <a:ext cx="9386937" cy="1581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4000" b="0" i="0" u="none" dirty="0">
                <a:solidFill>
                  <a:srgbClr val="0F172A"/>
                </a:solidFill>
                <a:latin typeface="Plus Jakarta Sans ExtraBold"/>
              </a:rPr>
              <a:t>Accreditation Standards for Inclusive Schools:</a:t>
            </a:r>
            <a:r>
              <a:rPr sz="2000" dirty="0"/>
              <a:t>
</a:t>
            </a:r>
            <a:r>
              <a:rPr lang="en-US" sz="4000" dirty="0">
                <a:solidFill>
                  <a:schemeClr val="accent1"/>
                </a:solidFill>
                <a:latin typeface="Plus Jakarta Sans ExtraBold"/>
              </a:rPr>
              <a:t>For C</a:t>
            </a:r>
            <a:r>
              <a:rPr sz="4000" b="0" i="0" u="none" dirty="0">
                <a:solidFill>
                  <a:schemeClr val="accent1"/>
                </a:solidFill>
                <a:latin typeface="Plus Jakarta Sans ExtraBold"/>
              </a:rPr>
              <a:t>hildren with Autism Spectrum Disorder (ASD)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8999" y="2634575"/>
            <a:ext cx="8572500" cy="90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i="0" u="none" dirty="0">
                <a:latin typeface="Plus Jakarta Sans"/>
              </a:rPr>
              <a:t>A comprehensive, evidence-based quality framework establishing operational standards across 8 primary clusters to integrate children with ASD into mainstream education in Jordan.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6279863"/>
            <a:ext cx="3352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AUTHOR: </a:t>
            </a:r>
            <a:r>
              <a:rPr lang="en-US" sz="1100" dirty="0">
                <a:solidFill>
                  <a:srgbClr val="64748B"/>
                </a:solidFill>
                <a:latin typeface="Plus Jakarta Sans"/>
              </a:rPr>
              <a:t>Razan Nail Nusairat</a:t>
            </a:r>
            <a:endParaRPr sz="975" b="0" i="0" u="none" dirty="0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6237001"/>
            <a:ext cx="1590675" cy="238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300" y="4069171"/>
            <a:ext cx="419100" cy="3722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250" y="4575869"/>
            <a:ext cx="317367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Plus Jakarta Sans"/>
              </a:rPr>
              <a:t>Legislative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4890194"/>
            <a:ext cx="3022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Anchored in Jordan Law No. 20 (2017) &amp; the 10-Year Inclusive Education Strategy.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5700" y="4069171"/>
            <a:ext cx="419100" cy="3722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84650" y="4575869"/>
            <a:ext cx="317367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Plus Jakarta Sans"/>
              </a:rPr>
              <a:t>8 Core Clusters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650" y="4890194"/>
            <a:ext cx="3022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96 pages of operational guidelines spanning Governance, IEPs, Accommodations &amp; Quality.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3100" y="4069171"/>
            <a:ext cx="419100" cy="37221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12050" y="4575869"/>
            <a:ext cx="317383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F172A"/>
                </a:solidFill>
                <a:latin typeface="Plus Jakarta Sans"/>
              </a:rPr>
              <a:t>Accreditation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2050" y="4890194"/>
            <a:ext cx="302269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Developed for HCAC, funded by the EU &amp; Amena Foundation for national implementation.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8787" y="4157899"/>
            <a:ext cx="238125" cy="16919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5712" y="4157899"/>
            <a:ext cx="219075" cy="16919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1213" y="4157899"/>
            <a:ext cx="142875" cy="169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5943600"/>
            <a:ext cx="10953750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82" y="4390028"/>
            <a:ext cx="5310187" cy="1159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125" y="523875"/>
            <a:ext cx="10953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284C7"/>
                </a:solidFill>
                <a:latin typeface="Plus Jakarta Sans"/>
              </a:rPr>
              <a:t>CONTEXT &amp; POLICY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1041202"/>
            <a:ext cx="10953750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600" b="0" i="0" u="none" dirty="0">
                <a:solidFill>
                  <a:srgbClr val="0F172A"/>
                </a:solidFill>
                <a:latin typeface="Plus Jakarta Sans ExtraBold"/>
              </a:rPr>
              <a:t>Addressing the Inclusion Gap in Jordan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138862"/>
            <a:ext cx="2676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Plus Jakarta Sans"/>
              </a:rPr>
              <a:t>SECTION 1 - INTRODUCTION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650" y="6096000"/>
            <a:ext cx="1419225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2149" y="2441503"/>
            <a:ext cx="55756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Plus Jakarta Sans"/>
              </a:rPr>
              <a:t>The Operational Reality (Baseline)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149" y="2851078"/>
            <a:ext cx="531018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Plus Jakarta Sans"/>
              </a:rPr>
              <a:t>Prior statistics revealed that </a:t>
            </a:r>
            <a:r>
              <a:rPr sz="1600" b="1" i="0" u="none">
                <a:solidFill>
                  <a:srgbClr val="334155"/>
                </a:solidFill>
                <a:latin typeface="Plus Jakarta Sans"/>
              </a:rPr>
              <a:t>79% of persons with disabilities in Jordan received no formal education</a:t>
            </a:r>
            <a:r>
              <a:rPr sz="1600" b="0" i="0" u="none">
                <a:solidFill>
                  <a:srgbClr val="334155"/>
                </a:solidFill>
                <a:latin typeface="Plus Jakarta Sans"/>
              </a:rPr>
              <a:t>, with fewer than 20,000 beneficiaries enrolled in educational services nationwide.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2687" y="2341215"/>
            <a:ext cx="601088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Plus Jakarta Sans"/>
              </a:rPr>
              <a:t>The Reform Mandate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682" y="4628153"/>
            <a:ext cx="504563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BE123C"/>
                </a:solidFill>
                <a:latin typeface="Plus Jakarta Sans"/>
              </a:rPr>
              <a:t>The Institutional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682" y="4885328"/>
            <a:ext cx="4805362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Children with ASD were historically fragmented across special education centers, lacking structured pathways into regular public and private schools.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1287" y="2750790"/>
            <a:ext cx="547820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334155"/>
                </a:solidFill>
                <a:latin typeface="Plus Jakarta Sans"/>
              </a:rPr>
              <a:t>Law No. 20/2017 (Art. 17-20):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Prohibits educational exclusion based on disability and mandates reasonable accommodations in mainstream schools.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1287" y="3412543"/>
            <a:ext cx="547820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334155"/>
                </a:solidFill>
                <a:latin typeface="Plus Jakarta Sans"/>
              </a:rPr>
              <a:t>10-Year National Strategy: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Shifts from segregation to a unified mainstream education system where diversity is the operational norm.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1287" y="3910717"/>
            <a:ext cx="547820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334155"/>
                </a:solidFill>
                <a:latin typeface="Plus Jakarta Sans"/>
              </a:rPr>
              <a:t>Evidence-Based Inclusion: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Incorporates ASD sub-types &amp; support levels (1-3) into regular academic structures with specialized aid.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2687" y="2750789"/>
            <a:ext cx="14375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2687" y="3412542"/>
            <a:ext cx="14375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2687" y="3910716"/>
            <a:ext cx="14375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0A083A-6D8B-1C21-6618-B7650154263A}"/>
              </a:ext>
            </a:extLst>
          </p:cNvPr>
          <p:cNvCxnSpPr/>
          <p:nvPr/>
        </p:nvCxnSpPr>
        <p:spPr>
          <a:xfrm>
            <a:off x="530352" y="1664208"/>
            <a:ext cx="110425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5943600"/>
            <a:ext cx="10953750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424136"/>
            <a:ext cx="2595562" cy="2001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187" y="1424136"/>
            <a:ext cx="2595562" cy="2001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424136"/>
            <a:ext cx="2595562" cy="20018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7312" y="1424136"/>
            <a:ext cx="2595562" cy="20018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3616523"/>
            <a:ext cx="2595562" cy="200188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187" y="3616523"/>
            <a:ext cx="2595562" cy="200188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616523"/>
            <a:ext cx="2595562" cy="200188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7312" y="3616523"/>
            <a:ext cx="2595562" cy="20018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125" y="523875"/>
            <a:ext cx="10953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284C7"/>
                </a:solidFill>
                <a:latin typeface="Plus Jakarta Sans"/>
              </a:rPr>
              <a:t>FRAMEWORK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888482"/>
            <a:ext cx="10953750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600" b="0" i="0" u="none" dirty="0">
                <a:solidFill>
                  <a:srgbClr val="0F172A"/>
                </a:solidFill>
                <a:latin typeface="Plus Jakarta Sans ExtraBold"/>
              </a:rPr>
              <a:t>The 8 Pillars of an Inclusive School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6138862"/>
            <a:ext cx="2390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OVERVIEW: 8 ACCREDITATION CLUSTERS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9354" y="1679897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7250" y="2233761"/>
            <a:ext cx="22252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1. Leadership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2548086"/>
            <a:ext cx="2119312" cy="872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Shared governance, ethical codes, and strategic planning for inclusion.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5416" y="1679897"/>
            <a:ext cx="419100" cy="419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43312" y="2233761"/>
            <a:ext cx="22252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2. Rights &amp; Laws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3312" y="2548086"/>
            <a:ext cx="2119312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Rights-based culture, anti-discrimination, and abuse prevention.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61479" y="1679897"/>
            <a:ext cx="419100" cy="419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29375" y="2233761"/>
            <a:ext cx="22252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3. Staff &amp; Cadre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2548086"/>
            <a:ext cx="2119312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Qualified teachers, in-service training, and emergency protocols.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47541" y="1679897"/>
            <a:ext cx="419100" cy="4191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15437" y="2233761"/>
            <a:ext cx="22252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4. Services (IEP)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5437" y="2548086"/>
            <a:ext cx="2119312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Multidisciplinary teams, IEP creation, and curriculum adaptation.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89354" y="3891408"/>
            <a:ext cx="419100" cy="4191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7250" y="4426148"/>
            <a:ext cx="22252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5. 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" y="4740473"/>
            <a:ext cx="2119312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Universal Design, sensory room setup, and anti-bullying culture.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5416" y="3891408"/>
            <a:ext cx="419100" cy="4191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43312" y="4426148"/>
            <a:ext cx="22252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6. Awareness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3312" y="4740473"/>
            <a:ext cx="2119312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Stigma reduction, community outreach, and parental partnership.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61479" y="3891408"/>
            <a:ext cx="419100" cy="4191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29375" y="4426148"/>
            <a:ext cx="22252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7. Quality (QI)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9375" y="4740473"/>
            <a:ext cx="2119312" cy="872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Key performance indicators, satisfaction audits, and grievance systems.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47541" y="3891408"/>
            <a:ext cx="419100" cy="4191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15437" y="4426148"/>
            <a:ext cx="22252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8. 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5437" y="4740473"/>
            <a:ext cx="2119312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OpenEMIS integration, secure student filing, and confidentiality.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89366" y="1794197"/>
            <a:ext cx="219075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89716" y="1794197"/>
            <a:ext cx="190500" cy="190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51966" y="1794197"/>
            <a:ext cx="238125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61841" y="1794197"/>
            <a:ext cx="190500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79841" y="4005708"/>
            <a:ext cx="238125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65904" y="4005708"/>
            <a:ext cx="238125" cy="1905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75779" y="4005708"/>
            <a:ext cx="190500" cy="1905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71366" y="4005708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5943600"/>
            <a:ext cx="10953750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072878"/>
            <a:ext cx="5310187" cy="28967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2072878"/>
            <a:ext cx="5310187" cy="28967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523875"/>
            <a:ext cx="10953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284C7"/>
                </a:solidFill>
                <a:latin typeface="Plus Jakarta Sans"/>
              </a:rPr>
              <a:t>CLUSTERS 1 &amp;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4" y="955094"/>
            <a:ext cx="10953750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600" b="0" i="0" u="none" dirty="0">
                <a:solidFill>
                  <a:srgbClr val="0F172A"/>
                </a:solidFill>
                <a:latin typeface="Plus Jakarta Sans ExtraBold"/>
              </a:rPr>
              <a:t>Governance, Professional Ethics &amp; Safeguarding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6138862"/>
            <a:ext cx="1962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STANDARDS: GL.1-4 | L.1-3 | R.1-2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400" y="6096000"/>
            <a:ext cx="1895475" cy="238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401" y="2201930"/>
            <a:ext cx="507563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Leadership Standards (GL.1 - GL.4)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69" y="2183220"/>
            <a:ext cx="504563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BE123C"/>
                </a:solidFill>
                <a:latin typeface="Plus Jakarta Sans"/>
              </a:rPr>
              <a:t>Child Safeguarding &amp; Abuse Protocol (L.3 / R.3)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9387" y="2625328"/>
            <a:ext cx="4805362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Operationalizing Law No. 20 (Art. 30) &amp; Domestic Violence Protection Law No. 15: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2625328"/>
            <a:ext cx="4605337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1" i="0" u="none">
                <a:solidFill>
                  <a:srgbClr val="334155"/>
                </a:solidFill>
                <a:latin typeface="Plus Jakarta Sans"/>
              </a:rPr>
              <a:t>School Principal:</a:t>
            </a:r>
            <a:r>
              <a:rPr sz="1600" b="0" i="0" u="none">
                <a:solidFill>
                  <a:srgbClr val="334155"/>
                </a:solidFill>
                <a:latin typeface="Plus Jakarta Sans"/>
              </a:rPr>
              <a:t> Manages policy compliance, budget/resource allocation, and community partnerships.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3357720"/>
            <a:ext cx="4605337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1" i="0" u="none">
                <a:solidFill>
                  <a:srgbClr val="334155"/>
                </a:solidFill>
                <a:latin typeface="Plus Jakarta Sans"/>
              </a:rPr>
              <a:t>Person In-Charge (Instructional Leader):</a:t>
            </a:r>
            <a:r>
              <a:rPr sz="1600" b="0" i="0" u="none">
                <a:solidFill>
                  <a:srgbClr val="334155"/>
                </a:solidFill>
                <a:latin typeface="Plus Jakarta Sans"/>
              </a:rPr>
              <a:t> Directly oversees IEP implementation, special educators, and curriculum adjustments.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4090112"/>
            <a:ext cx="4605337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1" i="0" u="none" dirty="0">
                <a:solidFill>
                  <a:srgbClr val="334155"/>
                </a:solidFill>
                <a:latin typeface="Plus Jakarta Sans"/>
              </a:rPr>
              <a:t>Code of Conduct:</a:t>
            </a:r>
            <a:r>
              <a:rPr sz="1600" b="0" i="0" u="none" dirty="0">
                <a:solidFill>
                  <a:srgbClr val="334155"/>
                </a:solidFill>
                <a:latin typeface="Plus Jakarta Sans"/>
              </a:rPr>
              <a:t> Mandates non-discrimination, strict professional integrity, and mutual respect across all school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9424" y="3144976"/>
            <a:ext cx="4814888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1" i="0" u="none" dirty="0">
                <a:solidFill>
                  <a:srgbClr val="334155"/>
                </a:solidFill>
                <a:latin typeface="Plus Jakarta Sans"/>
              </a:rPr>
              <a:t>Mandatory Detection:</a:t>
            </a:r>
            <a:r>
              <a:rPr sz="1600" b="0" i="0" u="none" dirty="0">
                <a:solidFill>
                  <a:srgbClr val="334155"/>
                </a:solidFill>
                <a:latin typeface="Plus Jakarta Sans"/>
              </a:rPr>
              <a:t> Staff trained to detect physical, verbal, and psychological abuse from family or school personnel.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5610" y="3905236"/>
            <a:ext cx="4814888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1" i="0" u="none" dirty="0">
                <a:solidFill>
                  <a:srgbClr val="334155"/>
                </a:solidFill>
                <a:latin typeface="Plus Jakarta Sans"/>
              </a:rPr>
              <a:t>Anonymous Reporting:</a:t>
            </a:r>
            <a:r>
              <a:rPr sz="1600" b="0" i="0" u="none" dirty="0">
                <a:solidFill>
                  <a:srgbClr val="334155"/>
                </a:solidFill>
                <a:latin typeface="Plus Jakarta Sans"/>
              </a:rPr>
              <a:t> Protected channels for staff and families to report mistreatment without fear of reprisal.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9424" y="4494385"/>
            <a:ext cx="474345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1" i="0" u="none" dirty="0">
                <a:solidFill>
                  <a:srgbClr val="334155"/>
                </a:solidFill>
                <a:latin typeface="Plus Jakarta Sans"/>
              </a:rPr>
              <a:t>Documentation:</a:t>
            </a:r>
            <a:r>
              <a:rPr sz="1600" b="0" i="0" u="none" dirty="0">
                <a:solidFill>
                  <a:srgbClr val="334155"/>
                </a:solidFill>
                <a:latin typeface="Plus Jakarta Sans"/>
              </a:rPr>
              <a:t> Strict administrative tracking and escalation to competent authorities.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2625328"/>
            <a:ext cx="133350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357720"/>
            <a:ext cx="133350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4090112"/>
            <a:ext cx="133350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9387" y="3212501"/>
            <a:ext cx="133350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0" i="0" u="none" dirty="0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9387" y="3956318"/>
            <a:ext cx="133350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0" i="0" u="none" dirty="0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9387" y="4630954"/>
            <a:ext cx="133350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6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6029325"/>
            <a:ext cx="1095375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979949"/>
            <a:ext cx="10953750" cy="13963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055614"/>
            <a:ext cx="3498800" cy="14303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6525" y="2055614"/>
            <a:ext cx="3498800" cy="14303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925" y="2055614"/>
            <a:ext cx="3498949" cy="14303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125" y="523875"/>
            <a:ext cx="10953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284C7"/>
                </a:solidFill>
                <a:latin typeface="Plus Jakarta Sans"/>
              </a:rPr>
              <a:t>CLUSTER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50" y="1056212"/>
            <a:ext cx="10953750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600" b="0" i="0" u="none" dirty="0">
                <a:solidFill>
                  <a:srgbClr val="0F172A"/>
                </a:solidFill>
                <a:latin typeface="Plus Jakarta Sans ExtraBold"/>
              </a:rPr>
              <a:t>Teacher Competencies &amp; Classroom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6181725"/>
            <a:ext cx="1362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STANDARDS: TS.1 - TS.6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7475" y="6181725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PEDAGOGY &amp;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4119847"/>
            <a:ext cx="1100137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Handling Classroom Emergencies &amp; Disruptions (TS.4)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761" y="2175047"/>
            <a:ext cx="317367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Pre-Service Orientation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2608064"/>
            <a:ext cx="3022550" cy="864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All general and special educators receive orientation on ASD behavioral traits, sensory triggers, and inclusive pedagogical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9161" y="2175047"/>
            <a:ext cx="317367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In-Service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4650" y="2608064"/>
            <a:ext cx="3022550" cy="864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Continuous professional development focusing on Positive Behavior Support (PBS) and Prevent-Teach-Reinforce (PTR) models.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6561" y="2175047"/>
            <a:ext cx="317383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>
                <a:solidFill>
                  <a:srgbClr val="0F172A"/>
                </a:solidFill>
                <a:latin typeface="Plus Jakarta Sans"/>
              </a:rPr>
              <a:t>Performance Audits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2050" y="2608064"/>
            <a:ext cx="3022699" cy="872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600" b="0" i="0" u="none">
                <a:solidFill>
                  <a:srgbClr val="475569"/>
                </a:solidFill>
                <a:latin typeface="Plus Jakarta Sans"/>
              </a:rPr>
              <a:t>Regular monitoring by the Instructional Leader to evaluate teaching adjustments and classroom integration success.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4532399"/>
            <a:ext cx="532566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284C7"/>
                </a:solidFill>
                <a:latin typeface="Plus Jakarta Sans"/>
              </a:rPr>
              <a:t>Safety &amp; Drill Preparations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741949"/>
            <a:ext cx="5072062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Tailored protocols for fire drills and evacuations. Students with ASD undergo 1-on-1 practice to reduce sensory panic caused by alarms.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2687" y="4532399"/>
            <a:ext cx="532566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0284C7"/>
                </a:solidFill>
                <a:latin typeface="Plus Jakarta Sans"/>
              </a:rPr>
              <a:t>Behavioral De-escalation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2687" y="4741949"/>
            <a:ext cx="5072062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Clear procedures for sensory overloads, tantrums, and anxiety episodes, using designated quiet areas and structured routines.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5943600"/>
            <a:ext cx="10953750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060227"/>
            <a:ext cx="1878359" cy="14972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009" y="2140148"/>
            <a:ext cx="1878359" cy="13372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6894" y="2060227"/>
            <a:ext cx="1878359" cy="14972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5779" y="2140148"/>
            <a:ext cx="1878359" cy="13372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4664" y="2060227"/>
            <a:ext cx="1878359" cy="149721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3951403"/>
            <a:ext cx="5310187" cy="118675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9115" y="3951402"/>
            <a:ext cx="5310187" cy="11867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125" y="523875"/>
            <a:ext cx="10953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284C7"/>
                </a:solidFill>
                <a:latin typeface="Plus Jakarta Sans"/>
              </a:rPr>
              <a:t>CLUSTER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973" y="962302"/>
            <a:ext cx="10953750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600" b="0" i="0" u="none" dirty="0">
                <a:solidFill>
                  <a:srgbClr val="0F172A"/>
                </a:solidFill>
                <a:latin typeface="Plus Jakarta Sans ExtraBold"/>
              </a:rPr>
              <a:t>The Student Inclusion &amp; IEP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6138862"/>
            <a:ext cx="1381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STANDARDS: ES.1 - ES.8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4625" y="6096000"/>
            <a:ext cx="1238250" cy="238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675" y="2269777"/>
            <a:ext cx="145925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u="none">
                <a:solidFill>
                  <a:srgbClr val="0284C7"/>
                </a:solidFill>
                <a:latin typeface="Plus Jakarta Sans ExtraBold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193" y="2469802"/>
            <a:ext cx="153222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u="none">
                <a:solidFill>
                  <a:srgbClr val="0F172A"/>
                </a:solidFill>
                <a:latin typeface="Plus Jakarta Sans"/>
              </a:rPr>
              <a:t>Admission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2707927"/>
            <a:ext cx="1459259" cy="835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300" b="0" i="0" u="none">
                <a:solidFill>
                  <a:srgbClr val="64748B"/>
                </a:solidFill>
                <a:latin typeface="Plus Jakarta Sans"/>
              </a:rPr>
              <a:t>Participatory intake assessment (CARS, PEP-3, ABLLS-R) &amp; medical record review.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40359" y="2737395"/>
            <a:ext cx="104775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97559" y="2349698"/>
            <a:ext cx="145925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u="none">
                <a:solidFill>
                  <a:srgbClr val="0284C7"/>
                </a:solidFill>
                <a:latin typeface="Plus Jakarta Sans ExtraBold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1078" y="2549723"/>
            <a:ext cx="153222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u="none">
                <a:solidFill>
                  <a:srgbClr val="0F172A"/>
                </a:solidFill>
                <a:latin typeface="Plus Jakarta Sans"/>
              </a:rPr>
              <a:t>Priming Tour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7559" y="2787848"/>
            <a:ext cx="1459259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300" b="0" i="0" u="none">
                <a:solidFill>
                  <a:srgbClr val="64748B"/>
                </a:solidFill>
                <a:latin typeface="Plus Jakarta Sans"/>
              </a:rPr>
              <a:t>Orientation, school walk-through, meeting teachers &amp; peer introductions.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9244" y="2737395"/>
            <a:ext cx="104775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66444" y="2269777"/>
            <a:ext cx="145925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u="none">
                <a:solidFill>
                  <a:srgbClr val="0284C7"/>
                </a:solidFill>
                <a:latin typeface="Plus Jakarta Sans ExtraBold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9963" y="2469802"/>
            <a:ext cx="153222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u="none">
                <a:solidFill>
                  <a:srgbClr val="0F172A"/>
                </a:solidFill>
                <a:latin typeface="Plus Jakarta Sans"/>
              </a:rPr>
              <a:t>MDT IEP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6444" y="2707927"/>
            <a:ext cx="1459259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300" b="0" i="0" u="none">
                <a:solidFill>
                  <a:srgbClr val="64748B"/>
                </a:solidFill>
                <a:latin typeface="Plus Jakarta Sans"/>
              </a:rPr>
              <a:t>Multidisciplinary team formulates tailored academic &amp; non-academic goals.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8129" y="2737395"/>
            <a:ext cx="104775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35329" y="2349698"/>
            <a:ext cx="145925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u="none">
                <a:solidFill>
                  <a:srgbClr val="0284C7"/>
                </a:solidFill>
                <a:latin typeface="Plus Jakarta Sans ExtraBold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8847" y="2549723"/>
            <a:ext cx="153222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u="none">
                <a:solidFill>
                  <a:srgbClr val="0F172A"/>
                </a:solidFill>
                <a:latin typeface="Plus Jakarta Sans"/>
              </a:rPr>
              <a:t>Adaptation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329" y="2787848"/>
            <a:ext cx="1459259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300" b="0" i="0" u="none">
                <a:solidFill>
                  <a:srgbClr val="64748B"/>
                </a:solidFill>
                <a:latin typeface="Plus Jakarta Sans"/>
              </a:rPr>
              <a:t>Curriculum modifications, visual schedules, &amp; assistive tech deployment.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7014" y="2737395"/>
            <a:ext cx="104775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904214" y="2269777"/>
            <a:ext cx="145925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u="none">
                <a:solidFill>
                  <a:srgbClr val="0284C7"/>
                </a:solidFill>
                <a:latin typeface="Plus Jakarta Sans ExtraBold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7732" y="2469802"/>
            <a:ext cx="153222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u="none">
                <a:solidFill>
                  <a:srgbClr val="0F172A"/>
                </a:solidFill>
                <a:latin typeface="Plus Jakarta Sans"/>
              </a:rP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4214" y="2707927"/>
            <a:ext cx="1459259" cy="833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1300" b="0" i="0" u="none">
                <a:solidFill>
                  <a:srgbClr val="64748B"/>
                </a:solidFill>
                <a:latin typeface="Plus Jakarta Sans"/>
              </a:rPr>
              <a:t>Continuous monitoring, annual re-evaluation, or Extended School Year (ESY).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250" y="4033688"/>
            <a:ext cx="50756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F172A"/>
                </a:solidFill>
                <a:latin typeface="Plus Jakarta Sans"/>
              </a:rPr>
              <a:t>Multidisciplinary Team (MDT) Composition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250" y="4348013"/>
            <a:ext cx="483393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1400" b="0" i="0" u="none">
                <a:solidFill>
                  <a:srgbClr val="475569"/>
                </a:solidFill>
                <a:latin typeface="Plus Jakarta Sans"/>
              </a:rPr>
              <a:t>School Manager, Special Educator (Case Lead), General Class Teacher, Parents/Guardians, Social Counselor, and Speech/Occupational Therapists.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0812" y="4033688"/>
            <a:ext cx="50756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0F172A"/>
                </a:solidFill>
                <a:latin typeface="Plus Jakarta Sans"/>
              </a:rPr>
              <a:t>Curriculum Differentiation Strategies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0812" y="4348013"/>
            <a:ext cx="483393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1400" b="0" i="0" u="none" dirty="0">
                <a:solidFill>
                  <a:srgbClr val="475569"/>
                </a:solidFill>
                <a:latin typeface="Plus Jakarta Sans"/>
              </a:rPr>
              <a:t>Breaking complex assignments into task-analyses, utilizing visual aids for abstract concepts (Math/Science), and implementing peer-buddy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6029325"/>
            <a:ext cx="1095375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839515"/>
            <a:ext cx="5310187" cy="34492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839515"/>
            <a:ext cx="5310187" cy="34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523875"/>
            <a:ext cx="10953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284C7"/>
                </a:solidFill>
                <a:latin typeface="Plus Jakarta Sans"/>
              </a:rPr>
              <a:t>CLUSTER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4" y="916150"/>
            <a:ext cx="10953750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600" b="0" i="0" u="none" dirty="0">
                <a:solidFill>
                  <a:srgbClr val="0F172A"/>
                </a:solidFill>
                <a:latin typeface="Plus Jakarta Sans ExtraBold"/>
              </a:rPr>
              <a:t>Inclusive Physical &amp; Cultural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6181725"/>
            <a:ext cx="2409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STANDARDS: GL.1 - GL.4 (ENVIRONMENT)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0" y="6181725"/>
            <a:ext cx="1571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ENVIRONMENT &amp; CULTURE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4083" y="2287190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1715" y="2380047"/>
            <a:ext cx="507563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Physical Accommodations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7645" y="2287190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67487" y="2380047"/>
            <a:ext cx="507563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Inclusive School Culture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570" y="2401490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850" y="2963465"/>
            <a:ext cx="4605337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>
                <a:solidFill>
                  <a:srgbClr val="334155"/>
                </a:solidFill>
                <a:latin typeface="Plus Jakarta Sans"/>
              </a:rPr>
              <a:t>Universal Design: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Accessible ramps, safe corridors, and structured classroom seating layouts.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3485257"/>
            <a:ext cx="4605337" cy="42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>
                <a:solidFill>
                  <a:srgbClr val="334155"/>
                </a:solidFill>
                <a:latin typeface="Plus Jakarta Sans"/>
              </a:rPr>
              <a:t>Resource Rooms: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Dedicated spaces equipped with sensory tools for targeted instruction and quiet decompression.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" y="4007048"/>
            <a:ext cx="4605337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>
                <a:solidFill>
                  <a:srgbClr val="334155"/>
                </a:solidFill>
                <a:latin typeface="Plus Jakarta Sans"/>
              </a:rPr>
              <a:t>Class Ratios: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Standard maximum ratio of 1 teacher to 10 students (supplemented by assistant teachers).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4528839"/>
            <a:ext cx="4605337" cy="42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>
                <a:solidFill>
                  <a:srgbClr val="334155"/>
                </a:solidFill>
                <a:latin typeface="Plus Jakarta Sans"/>
              </a:rPr>
              <a:t>Lighting &amp; Noise Control: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Minimizing fluorescent flicker and auditory distraction using noise-canceling headsets.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7658" y="2401490"/>
            <a:ext cx="2190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29412" y="2963465"/>
            <a:ext cx="4605337" cy="42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>
                <a:solidFill>
                  <a:srgbClr val="334155"/>
                </a:solidFill>
                <a:latin typeface="Plus Jakarta Sans"/>
              </a:rPr>
              <a:t>The "Hidden Curriculum":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Teaching implicit social rules, body language, and context scripts through visual </a:t>
            </a:r>
            <a:r>
              <a:rPr sz="1400" b="0" i="1" u="none">
                <a:solidFill>
                  <a:srgbClr val="334155"/>
                </a:solidFill>
                <a:latin typeface="Plus Jakarta Sans"/>
              </a:rPr>
              <a:t>Social Stories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412" y="3485257"/>
            <a:ext cx="4605337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>
                <a:solidFill>
                  <a:srgbClr val="334155"/>
                </a:solidFill>
                <a:latin typeface="Plus Jakarta Sans"/>
              </a:rPr>
              <a:t>Circles of Friends: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Peer support groups that foster voluntary friendships and prevent social isolation.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412" y="4007048"/>
            <a:ext cx="4605337" cy="42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>
                <a:solidFill>
                  <a:srgbClr val="334155"/>
                </a:solidFill>
                <a:latin typeface="Plus Jakarta Sans"/>
              </a:rPr>
              <a:t>Anti-Bullying Program: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Active monitoring, peer education, and swift intervention against harassment or mockery.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2963465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3485257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4007048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4528839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0812" y="2963465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0812" y="3485257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0812" y="4007048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6029325"/>
            <a:ext cx="1095375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030015"/>
            <a:ext cx="5310187" cy="28777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2030015"/>
            <a:ext cx="5310187" cy="28777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523875"/>
            <a:ext cx="10953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284C7"/>
                </a:solidFill>
                <a:latin typeface="Plus Jakarta Sans"/>
              </a:rPr>
              <a:t>CLUSTER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4" y="1024427"/>
            <a:ext cx="10953750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600" b="0" i="0" u="none" dirty="0">
                <a:solidFill>
                  <a:srgbClr val="0F172A"/>
                </a:solidFill>
                <a:latin typeface="Plus Jakarta Sans ExtraBold"/>
              </a:rPr>
              <a:t>Community Outreach &amp; Parental Partnership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6181725"/>
            <a:ext cx="1647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STANDARDS: CA.1-4 | PA.1-2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3650" y="6181725"/>
            <a:ext cx="1419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COMMUNITY &amp;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2268140"/>
            <a:ext cx="507563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Plus Jakarta Sans"/>
              </a:rPr>
              <a:t>Community Awareness Program (CA.1 - CA.4)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582465"/>
            <a:ext cx="4833937" cy="42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475569"/>
                </a:solidFill>
                <a:latin typeface="Plus Jakarta Sans"/>
              </a:rPr>
              <a:t>Outreach strategies tailored to local culture, targeting misconceptions around autism: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812" y="2268140"/>
            <a:ext cx="507563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Plus Jakarta Sans"/>
              </a:rPr>
              <a:t>Structured Parental Roles (PA.1 - PA.2)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812" y="2582465"/>
            <a:ext cx="4833937" cy="210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475569"/>
                </a:solidFill>
                <a:latin typeface="Plus Jakarta Sans"/>
              </a:rPr>
              <a:t>Parents are co-decision makers, not passive observers: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3104257"/>
            <a:ext cx="4605337" cy="42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334155"/>
                </a:solidFill>
                <a:latin typeface="Plus Jakarta Sans"/>
              </a:rPr>
              <a:t>Disseminating evidence-based guides ("Say &amp; Don't Say" language standards).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3626048"/>
            <a:ext cx="4605337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334155"/>
                </a:solidFill>
                <a:latin typeface="Plus Jakarta Sans"/>
              </a:rPr>
              <a:t>Engaging local community leaders, mosques, churches, and local councils in partnership with Ministry initiatives.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4147839"/>
            <a:ext cx="4605337" cy="42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334155"/>
                </a:solidFill>
                <a:latin typeface="Plus Jakarta Sans"/>
              </a:rPr>
              <a:t>Highlighting ASD success stories to shift societal perception toward capability.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412" y="2890986"/>
            <a:ext cx="4605337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1" i="0" u="none">
                <a:solidFill>
                  <a:srgbClr val="334155"/>
                </a:solidFill>
                <a:latin typeface="Plus Jakarta Sans"/>
              </a:rPr>
              <a:t>ASD Student Parents: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Active participation in IEP goal setting, home-school strategy alignment, and family support networks.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412" y="3412777"/>
            <a:ext cx="4605337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1" i="0" u="none">
                <a:solidFill>
                  <a:srgbClr val="334155"/>
                </a:solidFill>
                <a:latin typeface="Plus Jakarta Sans"/>
              </a:rPr>
              <a:t>Non-ASD Student Parents:</a:t>
            </a:r>
            <a:r>
              <a:rPr sz="1400" b="0" i="0" u="none">
                <a:solidFill>
                  <a:srgbClr val="334155"/>
                </a:solidFill>
                <a:latin typeface="Plus Jakarta Sans"/>
              </a:rPr>
              <a:t> Orientations on the academic and empathy-building benefits of inclusive classrooms for all children.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3104257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626048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4147839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0812" y="2890986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0812" y="3412777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5943600"/>
            <a:ext cx="10953750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316360"/>
            <a:ext cx="5310187" cy="2409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125" y="523875"/>
            <a:ext cx="10953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284C7"/>
                </a:solidFill>
                <a:latin typeface="Plus Jakarta Sans"/>
              </a:rPr>
              <a:t>CLUSTERS 7 &amp;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932599"/>
            <a:ext cx="10953750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600" b="0" i="0" u="none" dirty="0">
                <a:solidFill>
                  <a:srgbClr val="0F172A"/>
                </a:solidFill>
                <a:latin typeface="Plus Jakarta Sans ExtraBold"/>
              </a:rPr>
              <a:t>Quality Assurance &amp; Data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138862"/>
            <a:ext cx="1676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STANDARDS: QM.1-3 | IM.1-3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575" y="6096000"/>
            <a:ext cx="1638300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125" y="2316360"/>
            <a:ext cx="55756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Quality Management (QM.1 - QM.3)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825293"/>
              </p:ext>
            </p:extLst>
          </p:nvPr>
        </p:nvGraphicFramePr>
        <p:xfrm>
          <a:off x="619125" y="2668785"/>
          <a:ext cx="5310187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Metric / Indicator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Target Outcome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Inclusion Enrollment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Annual Census / EMIS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Increased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IEP Progress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MDT Quarterly Review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Goal Achievement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Parent Satisfaction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Structured Surveys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 Engagement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Grievances / Abuse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Logbook &amp; Forms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Zero Tolerance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00812" y="2554485"/>
            <a:ext cx="507563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0F172A"/>
                </a:solidFill>
                <a:latin typeface="Plus Jakarta Sans"/>
              </a:rPr>
              <a:t>Information Systems &amp; Privacy (IM.1 - IM.3)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" y="3059310"/>
            <a:ext cx="176286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81994" y="3059310"/>
            <a:ext cx="189175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3748" y="3059310"/>
            <a:ext cx="165556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9412" y="2868810"/>
            <a:ext cx="4605337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 dirty="0">
                <a:solidFill>
                  <a:srgbClr val="334155"/>
                </a:solidFill>
                <a:latin typeface="Plus Jakarta Sans"/>
              </a:rPr>
              <a:t>OpenEMIS Integration:</a:t>
            </a:r>
            <a:r>
              <a:rPr sz="1400" b="0" i="0" u="none" dirty="0">
                <a:solidFill>
                  <a:srgbClr val="334155"/>
                </a:solidFill>
                <a:latin typeface="Plus Jakarta Sans"/>
              </a:rPr>
              <a:t> Alignment with Ministry Education Management Information Systems for attendance and resource tracking.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411" y="3582673"/>
            <a:ext cx="4605337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 dirty="0">
                <a:solidFill>
                  <a:srgbClr val="334155"/>
                </a:solidFill>
                <a:latin typeface="Plus Jakarta Sans"/>
              </a:rPr>
              <a:t>Confidentiality Safeguards:</a:t>
            </a:r>
            <a:r>
              <a:rPr sz="1400" b="0" i="0" u="none" dirty="0">
                <a:solidFill>
                  <a:srgbClr val="334155"/>
                </a:solidFill>
                <a:latin typeface="Plus Jakarta Sans"/>
              </a:rPr>
              <a:t> Diagnostic files and medical records stored in restricted physical/digital vaults.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412" y="4094654"/>
            <a:ext cx="4605337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1" i="0" u="none" dirty="0">
                <a:solidFill>
                  <a:srgbClr val="334155"/>
                </a:solidFill>
                <a:latin typeface="Plus Jakarta Sans"/>
              </a:rPr>
              <a:t>Dual Documentation:</a:t>
            </a:r>
            <a:r>
              <a:rPr sz="1400" b="0" i="0" u="none" dirty="0">
                <a:solidFill>
                  <a:srgbClr val="334155"/>
                </a:solidFill>
                <a:latin typeface="Plus Jakarta Sans"/>
              </a:rPr>
              <a:t> Comprehensive live files detailing assessment benchmarks, IEP goals, and medical severity levels.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125" y="3483173"/>
            <a:ext cx="1762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81994" y="3483173"/>
            <a:ext cx="1891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73748" y="3483173"/>
            <a:ext cx="1655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125" y="3892748"/>
            <a:ext cx="1762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81994" y="3892748"/>
            <a:ext cx="1891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73748" y="3892748"/>
            <a:ext cx="1655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125" y="4302323"/>
            <a:ext cx="1762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81994" y="4302323"/>
            <a:ext cx="1891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73748" y="4302323"/>
            <a:ext cx="1655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125" y="4711898"/>
            <a:ext cx="1762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81994" y="4711898"/>
            <a:ext cx="1891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73748" y="4711898"/>
            <a:ext cx="1655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00812" y="2912093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 dirty="0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1762" y="3622303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 dirty="0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2907" y="4121874"/>
            <a:ext cx="133350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b="0" i="0" u="none" dirty="0">
                <a:solidFill>
                  <a:srgbClr val="0D9488"/>
                </a:solidFill>
                <a:latin typeface="Plus Jakarta Sans ExtraBold"/>
              </a:rPr>
              <a:t>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5943600"/>
            <a:ext cx="10953750" cy="390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042320"/>
            <a:ext cx="10953750" cy="11980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802308"/>
            <a:ext cx="3498800" cy="2001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6525" y="1802308"/>
            <a:ext cx="3498800" cy="20018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925" y="1802308"/>
            <a:ext cx="3498949" cy="2001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125" y="523875"/>
            <a:ext cx="109537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0284C7"/>
                </a:solidFill>
                <a:latin typeface="Plus Jakarta Sans"/>
              </a:rPr>
              <a:t>IMPLEMENTATION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871537"/>
            <a:ext cx="10953750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600" b="0" i="0" u="none" dirty="0">
                <a:solidFill>
                  <a:srgbClr val="0F172A"/>
                </a:solidFill>
                <a:latin typeface="Plus Jakarta Sans ExtraBold"/>
              </a:rPr>
              <a:t>National Systemic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6138862"/>
            <a:ext cx="4276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NATIONAL ACCREDITATION STANDARDS FOR INCLUSIVE SCHOOLS (2021)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4280445"/>
            <a:ext cx="110013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38BDF8"/>
                </a:solidFill>
                <a:latin typeface="Plus Jakarta Sans"/>
              </a:rPr>
              <a:t>Key Takeaway for Employers &amp;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575720"/>
            <a:ext cx="104775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CBD5E1"/>
                </a:solidFill>
                <a:latin typeface="Plus Jakarta Sans"/>
              </a:rPr>
              <a:t>This accreditation framework represents an end-to-end policy asset—bridging international human rights mandates, national legislation, and operational school-level procedures into an actionable, quality-assured educational strategy.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8975" y="2088445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50" y="2611933"/>
            <a:ext cx="31736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Plus Jakarta Sans"/>
              </a:rPr>
              <a:t>Standardized Guidelines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2926258"/>
            <a:ext cx="3022550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475569"/>
                </a:solidFill>
                <a:latin typeface="Plus Jakarta Sans"/>
              </a:rPr>
              <a:t>Establishes clear, measurable accreditation benchmarks for Jordanian public and private schools.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6375" y="2088445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84650" y="2611933"/>
            <a:ext cx="317367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Plus Jakarta Sans"/>
              </a:rPr>
              <a:t>Capacity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650" y="2926258"/>
            <a:ext cx="3022550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475569"/>
                </a:solidFill>
                <a:latin typeface="Plus Jakarta Sans"/>
              </a:rPr>
              <a:t>Provides actionable frameworks for school leaders, general educators, and special education cadres.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3775" y="2088445"/>
            <a:ext cx="419100" cy="419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12050" y="2611933"/>
            <a:ext cx="317383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0F172A"/>
                </a:solidFill>
                <a:latin typeface="Plus Jakarta Sans"/>
              </a:rPr>
              <a:t>Rights Realization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2050" y="2926258"/>
            <a:ext cx="3022699" cy="64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400" b="0" i="0" u="none">
                <a:solidFill>
                  <a:srgbClr val="475569"/>
                </a:solidFill>
                <a:latin typeface="Plus Jakarta Sans"/>
              </a:rPr>
              <a:t>Transforms statutory rights (Law 20/2017) into practical daily educational routines for children with ASD.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7087" y="2202745"/>
            <a:ext cx="1428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6862" y="2202745"/>
            <a:ext cx="23812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51888" y="2202745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1366</Words>
  <Application>Microsoft Office PowerPoint</Application>
  <PresentationFormat>Widescreen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Razan Nusairat</dc:creator>
  <cp:keywords/>
  <dc:description>generated using python-pptx</dc:description>
  <cp:lastModifiedBy>NUSAIRAT, Razan</cp:lastModifiedBy>
  <cp:revision>6</cp:revision>
  <dcterms:created xsi:type="dcterms:W3CDTF">2013-01-27T09:14:16Z</dcterms:created>
  <dcterms:modified xsi:type="dcterms:W3CDTF">2026-08-12T16:57:23Z</dcterms:modified>
  <cp:category/>
</cp:coreProperties>
</file>